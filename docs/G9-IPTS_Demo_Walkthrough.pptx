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0080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  |  April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Payment Transformation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 &amp; Live System Tour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5.0  |  April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1005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Why cross-border settlements need transformation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463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Architecture Overview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7-Layer Convergent Architecture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920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920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Live Dashboard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29768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KPIs, multi-account, ledger, notifications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377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77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Payment Hub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Settlement, P2P, ACH/Wire/SEPA, Scheduled, QR Pay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834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834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834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AI Risk Scoring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768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5-model ensemble with SHAP explainability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291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9728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Account &amp; Beneficiaries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29768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Multi-account, beneficiary management, spending 360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749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" y="3749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749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97280" y="3749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Card Services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29768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Virtual cards, freeze/unfreeze, digital wallet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4206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457200" y="4206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206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9728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Security &amp; KYC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29768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E-KYC verification, fraud alerts, biometrics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4663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4663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663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280" y="4663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Compliance &amp; Cases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4297680" y="4663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Four-eyes, HITL, SLA, sanctions, case mgmt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5120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457200" y="5120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5120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Support &amp; Documents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297680" y="5120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AI chat bot, notification center, statements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57200" y="5577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54" name="Shape 52"/>
          <p:cNvSpPr/>
          <p:nvPr/>
        </p:nvSpPr>
        <p:spPr>
          <a:xfrm>
            <a:off x="457200" y="5577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5577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Key Differentiators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297680" y="5577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What makes IPTS unique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Settlement Today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Settlements Need Transformation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T+2 to T+5 Settlement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Cross-border payments take 2-5 business days through correspondent banking chains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04088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$27T Trapped Liquidity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Nostro/Vostro accounts lock capital globally, creating massive opportunity costs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⚠️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$10.2M Compliance Cost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Annual AML/KYC compliance with 15-25% false positive rates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04088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Black Box AI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Legacy ML systems cannot explain why transactions are blocked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28016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Fragmented Infrastructure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$25-$65 per transaction across multiple intermediaries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04088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$190T Market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The cross-border payments market is at an inflection point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Architecture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7-Layer Convergent Architecture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IPTS 7-Layer Convergent Architecture</a:t>
            </a:r>
            <a:endParaRPr lang="en-US" sz="2600" dirty="0"/>
          </a:p>
        </p:txBody>
      </p:sp>
      <p:pic>
        <p:nvPicPr>
          <p:cNvPr id="3" name="Image 0" descr="/Users/mohamadidriss/Projects/IPTS/docs/architecture/ipts_seven_layer_convergen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6858000" cy="5303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1005840"/>
            <a:ext cx="109728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1005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778240" y="1005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Presentation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3524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SPA, SHAP charts, SLA, health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06640" y="1755648"/>
            <a:ext cx="109728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7635240" y="175564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778240" y="1755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Security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20299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JWT, RBAC, four-eyes approval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06640" y="2505456"/>
            <a:ext cx="109728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250545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0" y="250545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Intelligence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635240" y="277977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5 ML models, 16 features, SHAP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06640" y="3255264"/>
            <a:ext cx="10972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7635240" y="32552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778240" y="32552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Compliance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635240" y="352958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HITL, cases, SLA, sanctions, FX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06640" y="4005072"/>
            <a:ext cx="109728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8"/>
          <p:cNvSpPr/>
          <p:nvPr/>
        </p:nvSpPr>
        <p:spPr>
          <a:xfrm>
            <a:off x="7635240" y="40050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5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78240" y="40050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Blockchain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635240" y="42793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7 smart contracts, atomic swaps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406640" y="4754880"/>
            <a:ext cx="109728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2"/>
          <p:cNvSpPr/>
          <p:nvPr/>
        </p:nvSpPr>
        <p:spPr>
          <a:xfrm>
            <a:off x="7635240" y="4754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77824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Data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635240" y="5029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GDPR vault, hash anchoring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406640" y="5504688"/>
            <a:ext cx="109728" cy="6400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35240" y="55046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7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778240" y="550468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Infrastructure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635240" y="57790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Ganache, Flask, health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Blockchain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7 Solidity Contracts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Web3.py 6.15  |  Ganache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py-solc-x 2.0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AI/ML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5-Model Ensemble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16-Feature Vector  |  SHAP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VelocityTracker  |  SMOTE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Security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Zero Trust JWT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RBAC (5 roles)  |  Four-Eyes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Rate Limiting  |  HSTS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Backend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Flask 3.0  |  SQLite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17 Database Tables  |  60+ APIs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SSE Streaming  |  REST API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Frontend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Tailwind CSS  |  Chart.js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D3.js Network Graph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12 Tabs  |  Dark Theme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Compliance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1248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HITL + SLA Tracking  |  E-KYC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SAR Filing  |  SWIFT GPI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13-Currency FX  |  Fraud Alerts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Demo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Dashboard &amp; Real-Time Monitoring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Multi-Account, KPIs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Multi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Real-time KPI cards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Multi-account cards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Checking / Savings / Business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Notification bell + badge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Live FX rates ticker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Health status dot (30s poll)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SSE auto-refresh (6s)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Real-Time Ledger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Led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Notifications_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Settlement Volume &amp; AML Telemetry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 + AM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Payment Hub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0B981"/>
                </a:solidFill>
              </a:rPr>
              <a:t>5 Payment Channels: Settlement, P2P, ACH/Wire/SEPA, Scheduled, QR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Multi-Currency with AI Risk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ett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3152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731520"/>
            <a:ext cx="4114800" cy="4572000"/>
          </a:xfrm>
          <a:prstGeom prst="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046720" y="914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13-currency selector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4672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FX preview (USD equivalent)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AML jurisdiction warnings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score + breakdown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SHAP values inline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Blockchain tx hash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4672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Balance auto-update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P2P Transfer &amp; ACH/Wire/SEPA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P2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ACH_Wire_SE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Scheduled Payments &amp; QR Pay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chedu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QR_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$700K High-Value Transaction (Blocked)</a:t>
            </a:r>
            <a:endParaRPr lang="en-US" sz="2200" dirty="0"/>
          </a:p>
        </p:txBody>
      </p:sp>
      <p:pic>
        <p:nvPicPr>
          <p:cNvPr id="3" name="Image 0" descr="/Users/mohamadidriss/Projects/IPTS/docs/screenshots/Settlement_result-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SHAP Explainability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Every AI Decision is Fully Transparent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— Per-Transaction Feature Contributions</a:t>
            </a:r>
            <a:endParaRPr lang="en-US" sz="2200" dirty="0"/>
          </a:p>
        </p:txBody>
      </p:sp>
      <p:pic>
        <p:nvPicPr>
          <p:cNvPr id="3" name="Image 0" descr="/Users/mohamadidriss/Projects/IPTS/docs/screenshots/SHAP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6858000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731520"/>
            <a:ext cx="4572000" cy="5029200"/>
          </a:xfrm>
          <a:prstGeom prst="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How SHAP Works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589520" y="1463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16 features scored per transaction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5895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TreeExplainer on XGBoost model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0" y="2560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RF feature_importances_ fallback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3108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Positive = increases risk (red)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3657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Negative = decreases risk (green)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0" y="4206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Satisfies EU AI Act requirements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0" y="47548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Full audit trail for regulators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Risk Score Breakdown — 4-Component Composite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Risk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572000" cy="2286000"/>
          </a:xfrm>
          <a:prstGeom prst="rect">
            <a:avLst/>
          </a:prstGeom>
        </p:spPr>
      </p:pic>
      <p:pic>
        <p:nvPicPr>
          <p:cNvPr id="4" name="Image 1" descr="/Users/mohamadidriss/Projects/IPTS/docs/screenshots/Risk_scor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4572000" cy="2286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3931920"/>
            <a:ext cx="27432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3"/>
          <p:cNvSpPr/>
          <p:nvPr/>
        </p:nvSpPr>
        <p:spPr>
          <a:xfrm>
            <a:off x="59436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Rules (30%)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Deterministic threshold checks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38328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0" name="Shape 6"/>
          <p:cNvSpPr/>
          <p:nvPr/>
        </p:nvSpPr>
        <p:spPr>
          <a:xfrm>
            <a:off x="3383280" y="3931920"/>
            <a:ext cx="2743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7"/>
          <p:cNvSpPr/>
          <p:nvPr/>
        </p:nvSpPr>
        <p:spPr>
          <a:xfrm>
            <a:off x="352044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ML Ensemble (40%)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5-model weighted prediction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30936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9360" y="3931920"/>
            <a:ext cx="2743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644652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NLP Watchlist (15%)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4652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Fuzzy entity matching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23544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8" name="Shape 14"/>
          <p:cNvSpPr/>
          <p:nvPr/>
        </p:nvSpPr>
        <p:spPr>
          <a:xfrm>
            <a:off x="9235440" y="393192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Graph Risk (15%)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937260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PageRank centrality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AI/ML Engine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5-Model Ensemble with 16-Feature Vector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AI/ML — 5 Model Performance Cards</a:t>
            </a:r>
            <a:endParaRPr lang="en-US" sz="2200" dirty="0"/>
          </a:p>
        </p:txBody>
      </p:sp>
      <p:pic>
        <p:nvPicPr>
          <p:cNvPr id="3" name="Image 0" descr="/Users/mohamadidriss/Projects/IPTS/docs/screenshots/AML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Explainability Chart — Feature Impact on Risk</a:t>
            </a:r>
            <a:endParaRPr lang="en-US" sz="2200" dirty="0"/>
          </a:p>
        </p:txBody>
      </p:sp>
      <p:pic>
        <p:nvPicPr>
          <p:cNvPr id="3" name="Image 0" descr="/Users/mohamadidriss/Projects/IPTS/docs/screenshots/SHAP_Feature_Con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82296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16-Feature Vector — Static + Real-Time Velocity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Static Features (1-8)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1. amount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2. hour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3. day_of_week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4. freq_7d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5. is_round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6. country_risk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7. sender_id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8. receiver_id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Real-Time Velocity Features (9-16)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9. velocity_1h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10. velocity_24h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11. velocity_7d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3268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12. avg_tx_amount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13. std_tx_amount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1440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14. amount_zscore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15. unique_receivers_7d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440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16. is_new_receiver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3657600"/>
            <a:ext cx="11247120" cy="256032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3152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VelocityTracker — Real-Time Behavioral Analytics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" y="42976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44444"/>
                </a:solidFill>
              </a:rPr>
              <a:t>The VelocityTracker maintains a per-sender sliding window of transaction history, computing real-time features that capture behavioral anomalies invisible to static analysis. This enables detection of sudden volume spikes, amount deviations, and receiver diversification patterns that indicate fraud, structuring, or money laundering.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Four-Eyes Approval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Dual-Approval for High-Value Transactions ($100K+)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Four-Eyes Approval Badges</a:t>
            </a:r>
            <a:endParaRPr lang="en-US" sz="2200" dirty="0"/>
          </a:p>
        </p:txBody>
      </p:sp>
      <p:pic>
        <p:nvPicPr>
          <p:cNvPr id="3" name="Image 0" descr="/Users/mohamadidriss/Projects/IPTS/docs/screenshots/HITL-Approval-1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Four-Eyes Workflow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09728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Required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84080" y="1554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Transaction &gt;= $100K blocked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03920" y="2331720"/>
            <a:ext cx="109728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317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of 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784080" y="23317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First officer approves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503920" y="3108960"/>
            <a:ext cx="109728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1089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Enforced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84080" y="3108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Same user cannot approve twice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3886200"/>
            <a:ext cx="109728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3886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of 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784080" y="3886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Second officer confirms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1097280" cy="320040"/>
          </a:xfrm>
          <a:prstGeom prst="rect">
            <a:avLst>
              <a:gd name="adj" fmla="val 28571"/>
            </a:avLst>
          </a:prstGeom>
          <a:solidFill>
            <a:srgbClr val="3B82F6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Settled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84080" y="4663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Released to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Four-Eyes Enforcement — Second Approver Required</a:t>
            </a:r>
            <a:endParaRPr lang="en-US" sz="2200" dirty="0"/>
          </a:p>
        </p:txBody>
      </p:sp>
      <p:pic>
        <p:nvPicPr>
          <p:cNvPr id="3" name="Image 0" descr="/Users/mohamadidriss/Projects/IPTS/docs/screenshots/four_eyes-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The system enforces that the second approval must come from a different compliance officer.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No single individual can unilaterally approve high-value transactions.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Detailed Case View</a:t>
            </a:r>
            <a:endParaRPr lang="en-US" sz="2200" dirty="0"/>
          </a:p>
        </p:txBody>
      </p:sp>
      <p:pic>
        <p:nvPicPr>
          <p:cNvPr id="3" name="Image 0" descr="/Users/mohamadidriss/Projects/IPTS/docs/screenshots/HITL_Approval_2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Case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SLA Tracking &amp; Compliance Workflows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Management — SLA Countdown Tracking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SLA Thresholds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37160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5840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hours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03920" y="2377440"/>
            <a:ext cx="137160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05840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24 hours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503920" y="3200400"/>
            <a:ext cx="137160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200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72 hours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03920" y="4023360"/>
            <a:ext cx="137160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LOW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058400" y="4023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 days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039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Cases approaching SLA breach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are highlighted in red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Detail — SANCTIONS Case (CRITICAL)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_Vie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31520"/>
            <a:ext cx="594360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Audit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3152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Account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Beneficiaries, Spending 360 Analytics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Beneficiary Management — Add, Edit, Delete</a:t>
            </a:r>
            <a:endParaRPr lang="en-US" sz="2200" dirty="0"/>
          </a:p>
        </p:txBody>
      </p:sp>
      <p:pic>
        <p:nvPicPr>
          <p:cNvPr id="3" name="Image 0" descr="/Users/mohamadidriss/Projects/IPTS/docs/screenshots/Beneficiarie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Add beneficiaries with full details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Account number + SWIFT code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Country + Currency selection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level assignment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Auto-populates payment dropdown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Edit &amp; delete controls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Individual / Corporate types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Comprehensive Analytics Dashboard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Charts &amp; Transaction History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pending_360_Transac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Card Services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Virtual Cards, Digital Wallet, Spending Controls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Virtual Cards — Generate, Freeze, Provision</a:t>
            </a:r>
            <a:endParaRPr lang="en-US" sz="2200" dirty="0"/>
          </a:p>
        </p:txBody>
      </p:sp>
      <p:pic>
        <p:nvPicPr>
          <p:cNvPr id="3" name="Image 0" descr="/Users/mohamadidriss/Projects/IPTS/docs/screenshots/Card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Visa / Mastercard generation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03920" y="14173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Masked card numbers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03920" y="1920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Gradient card styling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03920" y="24231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Freeze / Unfreeze toggle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0392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Apple Pay provisioning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503920" y="34290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Google Pay provisioning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3931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Samsung Pay provisioning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03920" y="4434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Card cancellation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Security &amp; KYC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E-KYC Verification, Fraud Alerts, Biometric Controls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E-KYC &amp; Fraud Monitoring</a:t>
            </a:r>
            <a:endParaRPr lang="en-US" sz="2200" dirty="0"/>
          </a:p>
        </p:txBody>
      </p:sp>
      <p:pic>
        <p:nvPicPr>
          <p:cNvPr id="3" name="Image 0" descr="/Users/mohamadidriss/Projects/IPTS/docs/screenshots/Security_K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ecurity_Fraud_Ale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Support &amp; Documents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AI Chat Bot, Notification Center, Document Hub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Documents, Support Chat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ocument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upport_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Compliance Tools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Sanctions, SWIFT GPI, FX Converter, Nostro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Compliance — Sanctions, GDPR, SWIFT GPI</a:t>
            </a:r>
            <a:endParaRPr lang="en-US" sz="2200" dirty="0"/>
          </a:p>
        </p:txBody>
      </p:sp>
      <p:pic>
        <p:nvPicPr>
          <p:cNvPr id="3" name="Image 0" descr="/Users/mohamadidriss/Projects/IPTS/docs/screenshots/Sanction_list_A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3657600" cy="2560320"/>
          </a:xfrm>
          <a:prstGeom prst="rect">
            <a:avLst/>
          </a:prstGeom>
        </p:spPr>
      </p:pic>
      <p:pic>
        <p:nvPicPr>
          <p:cNvPr id="4" name="Image 1" descr="/Users/mohamadidriss/Projects/IPTS/docs/screenshots/GDPR_Right_to_er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731520"/>
            <a:ext cx="3657600" cy="2560320"/>
          </a:xfrm>
          <a:prstGeom prst="rect">
            <a:avLst/>
          </a:prstGeom>
        </p:spPr>
      </p:pic>
      <p:pic>
        <p:nvPicPr>
          <p:cNvPr id="5" name="Image 2" descr="/Users/mohamadidriss/Projects/IPTS/docs/screenshots/Swift_GPI_tra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731520"/>
            <a:ext cx="3657600" cy="25603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Sanctions Management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420624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GDPR Right to Erasure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813816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SWIFT GPI Tracker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FX Converter &amp; Nostro Balances</a:t>
            </a:r>
            <a:endParaRPr lang="en-US" sz="2200" dirty="0"/>
          </a:p>
        </p:txBody>
      </p:sp>
      <p:pic>
        <p:nvPicPr>
          <p:cNvPr id="3" name="Image 0" descr="/Users/mohamadidriss/Projects/IPTS/docs/screenshots/Currency_conve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5029200" cy="3200400"/>
          </a:xfrm>
          <a:prstGeom prst="rect">
            <a:avLst/>
          </a:prstGeom>
        </p:spPr>
      </p:pic>
      <p:pic>
        <p:nvPicPr>
          <p:cNvPr id="4" name="Image 1" descr="/Users/mohamadidriss/Projects/IPTS/docs/screenshots/Nostro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760720" cy="3200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206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13 Supported Currencies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46634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USD  EUR  GBP  JPY  CHF  AUD  CAD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CNY  INR  SGD  AED  SAR  BRL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943600" y="42062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Nostro Account Positions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0" y="466344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Real-time liquidity monitoring across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blockchain-backed Nostro accounts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Differentiators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Explainable AI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Per-transaction SHAP values with 16-feature decomposition. Every risk decision is transparent and auditable — EU AI Act compliant.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12064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5 Payment Channels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Settlement, P2P, ACH/Wire/SEPA, Scheduled, QR Pay — all in one unified Payment Hub with sub-tab navigation.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96112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5-Model Ensemble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Isolation Forest + Random Forest + XGBoost + Autoencoder + Sequence Detector. 98-100% detection, &lt; 3% false positives.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8016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Virtual Card Services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Visa/MC generation, freeze/unfreeze, spending controls, and one-click provisioning to Apple Pay, Google Pay, Samsung Pay.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9768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48056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12064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Spending 360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8056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Comprehensive analytics with monthly trends, risk distribution, currency breakdown, activity heatmaps, and top beneficiary rankings.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🔒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96112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E-KYC + Notifications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3-phase animated identity verification, real-time notification center with SSE push, and AI-powered support chat bot.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Transformation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KPI Metric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0624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Before IPTS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After IPTS v5.0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630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Settlement Time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0624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T+2 to T+5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10 seconds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9659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Fraud Detection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45-60%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5528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98-100%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4688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False Positives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0624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15-25%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5528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3%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718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AI Explainability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0624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None (black box)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Full SHAP (16 features)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474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Payment Channels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0624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 (wire only)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5528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5 (Settlement/P2P/ACH/Sched/QR)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9776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Currency Support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0624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USD only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5528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13 currencies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48056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4805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Card Services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0624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Physical only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5528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Virtual Visa/MC + digital wallet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98348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9834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Identity (KYC)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20624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Manual paper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E-KYC with AI scoring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548640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4864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Tabs / Features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20624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3-5 screens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95528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12 tabs, 60+ API endpoints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 v5.0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7-Layer Architecture  |  5 AI Models  |  SHAP Explainability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Tabs  |  5 Payment Channels  |  Virtual Cards  |  E-KYC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360  |  Notifications  |  Support Chat  |  60+ APIs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Group 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G9-IPTS Demo Walkthrough</dc:title>
  <dc:subject>IPTS Demo Walkthrough</dc:subject>
  <dc:creator>Mohamad Idriss</dc:creator>
  <cp:lastModifiedBy>Mohamad Idriss</cp:lastModifiedBy>
  <cp:revision>1</cp:revision>
  <dcterms:created xsi:type="dcterms:W3CDTF">2026-04-11T12:04:36Z</dcterms:created>
  <dcterms:modified xsi:type="dcterms:W3CDTF">2026-04-11T12:04:36Z</dcterms:modified>
</cp:coreProperties>
</file>